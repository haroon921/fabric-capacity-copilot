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82C0B-E16B-6A36-4DE6-348B577AC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0D6B9F-768F-1A8F-5CB9-4DA1F5343C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B79A9D-0AA0-E347-DA94-2FA5B5EA3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4DF9E-D49B-8DB2-CCB1-1E70B6985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30A48-A770-0898-4BCE-C285D688A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60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2D2DC-82A1-B6CB-1547-1E58439CA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29635-79C5-3F98-0776-0CDB2DDF83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A0E80-EA35-8126-CB1B-BE90DE1FA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51070-4914-3546-4A93-9C452E47C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95C04-9657-4BB9-1854-19550E3EB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12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31E01-A015-BC94-A192-D318757B2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01FF7A-2C95-033D-A756-76D57645F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C643C-913B-2314-7D33-417F446D3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CF086-D2A3-07EA-9683-18732ACE2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44AF3-79B6-5752-9546-52B244136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762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C012A-E2B5-D268-7850-08C6B6320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5E80F-F993-C9F7-EF97-423A8562FE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58C8E3-0847-5D8F-6DB9-480D8D39D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86895-B809-60B5-E242-11B782958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5E985-BE88-D45F-7F9D-EDF332EC5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C86C2A-FD40-27D0-D915-D67227C29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151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719F4-BBBD-24EC-15D8-66E53FECD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BF20CB-C19E-3DC1-3A96-F6EE01BA99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1C17E1-C2F9-7C88-E4A6-CE3B2A58A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18FA84-1A8F-5660-3607-66F76F5411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66DE40-6C1E-88E1-AEC4-B099C96A01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623550-B7B6-A11F-5BB7-60CB081B4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602C6E-71F9-06DB-938D-D27D69368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2A649B-DCA6-3573-92FE-825F9E84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951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DC625-5B0F-0833-4F56-2DCE9CBB3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815A64-59CA-C67C-BA00-598F9C4E5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CD03BC-F4CD-873C-EB90-87A886F6A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293582-2F2C-3A14-CC28-9969A70A7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399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2AF5A6-0F23-5465-737C-F57614E00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C5CE3A-462F-EA71-543F-BB2524A2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F2267-0BCA-5B0B-3B33-706EBD8B6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27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40766-0CE5-6BD2-8171-AED8DA423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C6721-936F-8430-BDE2-DBBB51052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77A5DE-C780-B05E-FD9C-A08C7CED77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5E13AF-A7BB-D2E4-342C-B1B51E98D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4D0000-C9E9-B0B9-43FB-AFEAB48C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DD9398-9A84-CD3D-E896-3E6CD792A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359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FF4C1-CAF9-5580-DC46-62E8480D0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36FD75-C1BA-229F-42CE-B9B68A3BC78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2F13C0-3584-0B79-A3F1-7655E28BBA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BC652C-A6A7-0552-13F6-6887908DF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312DE-2466-E2DC-CB51-6398C7F62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524C02-A36D-15AD-B94F-82D3336CD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634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0101F-FA2F-F926-3425-130582DD1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877A61-4C66-390F-9CFF-DD0E0820F3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ECF7F-0FF4-414A-31FA-451974705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2D71E-30F5-6594-FC90-78ADBB7AB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F89AD-22AC-2277-3BB3-25491C534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27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314FD2-7431-AFFA-1D3F-4006F51A57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AFEA35-90DA-3B86-8C7F-77C6664DAA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20847-2620-F189-1A1B-F109ACDB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FF0AA-5C2F-D06C-656F-E3A1E5C3A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60835-AE83-C673-EC30-862DBDF01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17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5051FA-D433-D5C6-6DBE-6F1FE71CE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517241-912E-FECF-7617-043176A7C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D0020-964C-EB22-BDA4-DA7D8254A3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A277B0-1BC8-46D0-96E9-4631C913E98E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CF493-55F8-4C78-4345-995F343EF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5E859-3BEB-DD1F-F73F-BFDC36263B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FEEB4A-BAF6-4C97-B33F-AB910F2FB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152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9964E5-453C-2B7E-8AD0-498D70E3B7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1D4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77AB9C-1333-1D54-866E-013CEB68DBB3}"/>
              </a:ext>
            </a:extLst>
          </p:cNvPr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B4B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F5A016-7C8A-E876-B2F9-E8858F4886B3}"/>
              </a:ext>
            </a:extLst>
          </p:cNvPr>
          <p:cNvSpPr txBox="1"/>
          <p:nvPr/>
        </p:nvSpPr>
        <p:spPr>
          <a:xfrm>
            <a:off x="736600" y="685800"/>
            <a:ext cx="3810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9B8CFF"/>
                </a:solidFill>
                <a:latin typeface="Aptos" panose="020B0004020202020204" pitchFamily="34" charset="0"/>
              </a:rPr>
              <a:t>REFERENCE ACCELERATOR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5C7FE-82A2-7EE8-CE37-68984EBDE804}"/>
              </a:ext>
            </a:extLst>
          </p:cNvPr>
          <p:cNvSpPr txBox="1"/>
          <p:nvPr/>
        </p:nvSpPr>
        <p:spPr>
          <a:xfrm>
            <a:off x="736600" y="1308100"/>
            <a:ext cx="4889500" cy="107721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3500" b="1">
                <a:solidFill>
                  <a:srgbClr val="FFFFFF"/>
                </a:solidFill>
                <a:latin typeface="Aptos" panose="020B0004020202020204" pitchFamily="34" charset="0"/>
              </a:rPr>
              <a:t>Fabric Capacity
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78DE3D-F78D-D572-4CEA-5D87E42ECFB9}"/>
              </a:ext>
            </a:extLst>
          </p:cNvPr>
          <p:cNvSpPr txBox="1"/>
          <p:nvPr/>
        </p:nvSpPr>
        <p:spPr>
          <a:xfrm>
            <a:off x="736600" y="2997200"/>
            <a:ext cx="4445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700">
                <a:solidFill>
                  <a:srgbClr val="D8D5ED"/>
                </a:solidFill>
                <a:latin typeface="Aptos" panose="020B0004020202020204" pitchFamily="34" charset="0"/>
              </a:rPr>
              <a:t>Turn capacity telemetry into a focused investigation and remediation workflow.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13A221E-69F9-2F1D-0AD4-4CC391C0EA18}"/>
              </a:ext>
            </a:extLst>
          </p:cNvPr>
          <p:cNvSpPr/>
          <p:nvPr/>
        </p:nvSpPr>
        <p:spPr>
          <a:xfrm>
            <a:off x="736600" y="4381500"/>
            <a:ext cx="3302000" cy="457200"/>
          </a:xfrm>
          <a:prstGeom prst="roundRect">
            <a:avLst/>
          </a:prstGeom>
          <a:solidFill>
            <a:srgbClr val="4F43B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D3E075-0F3D-6CE2-65FB-0186EFAB32DD}"/>
              </a:ext>
            </a:extLst>
          </p:cNvPr>
          <p:cNvSpPr txBox="1"/>
          <p:nvPr/>
        </p:nvSpPr>
        <p:spPr>
          <a:xfrm>
            <a:off x="977900" y="4521200"/>
            <a:ext cx="28194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Overview  →  Evidence  →  Action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3C9ED7-FBAC-A7AB-DEA3-928386D71D3A}"/>
              </a:ext>
            </a:extLst>
          </p:cNvPr>
          <p:cNvSpPr txBox="1"/>
          <p:nvPr/>
        </p:nvSpPr>
        <p:spPr>
          <a:xfrm>
            <a:off x="736600" y="5994400"/>
            <a:ext cx="4826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>
                <a:solidFill>
                  <a:srgbClr val="A7A2CC"/>
                </a:solidFill>
                <a:latin typeface="Aptos" panose="020B0004020202020204" pitchFamily="34" charset="0"/>
              </a:rPr>
              <a:t>Working local MVP • React + TypeScript • Sample telemetry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CE41354-AE33-DA76-3716-0AD957BDD75A}"/>
              </a:ext>
            </a:extLst>
          </p:cNvPr>
          <p:cNvSpPr/>
          <p:nvPr/>
        </p:nvSpPr>
        <p:spPr>
          <a:xfrm>
            <a:off x="5740400" y="711200"/>
            <a:ext cx="5765800" cy="5435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D40B604-5563-0873-69D8-20A5C270E98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7757" y="889000"/>
            <a:ext cx="3611084" cy="5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460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B297D3-E099-36D2-667D-47396CE56A72}"/>
              </a:ext>
            </a:extLst>
          </p:cNvPr>
          <p:cNvSpPr txBox="1"/>
          <p:nvPr/>
        </p:nvSpPr>
        <p:spPr>
          <a:xfrm>
            <a:off x="660400" y="381000"/>
            <a:ext cx="8890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5B4BD6"/>
                </a:solidFill>
                <a:latin typeface="Aptos" panose="020B0004020202020204" pitchFamily="34" charset="0"/>
              </a:rPr>
              <a:t>01  •  CAPACITY POSTURE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8204AB-12A7-8215-EC79-8E1905F88B7B}"/>
              </a:ext>
            </a:extLst>
          </p:cNvPr>
          <p:cNvSpPr txBox="1"/>
          <p:nvPr/>
        </p:nvSpPr>
        <p:spPr>
          <a:xfrm>
            <a:off x="660400" y="6731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600" b="1">
                <a:solidFill>
                  <a:srgbClr val="201D45"/>
                </a:solidFill>
                <a:latin typeface="Aptos" panose="020B0004020202020204" pitchFamily="34" charset="0"/>
              </a:rPr>
              <a:t>See the signal before it becomes an incident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9821ED-5705-0A39-4A9D-B4DFAEB250BD}"/>
              </a:ext>
            </a:extLst>
          </p:cNvPr>
          <p:cNvSpPr txBox="1"/>
          <p:nvPr/>
        </p:nvSpPr>
        <p:spPr>
          <a:xfrm>
            <a:off x="660400" y="1257300"/>
            <a:ext cx="1041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200">
                <a:solidFill>
                  <a:srgbClr val="686481"/>
                </a:solidFill>
                <a:latin typeface="Aptos" panose="020B0004020202020204" pitchFamily="34" charset="0"/>
              </a:rPr>
              <a:t>Executive health indicators, utilization trends, workload mix, and ranked hotspots in one view.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60FD55-EBD8-27E6-50E8-61B32D2E004A}"/>
              </a:ext>
            </a:extLst>
          </p:cNvPr>
          <p:cNvSpPr/>
          <p:nvPr/>
        </p:nvSpPr>
        <p:spPr>
          <a:xfrm>
            <a:off x="660400" y="1600200"/>
            <a:ext cx="10871200" cy="25400"/>
          </a:xfrm>
          <a:prstGeom prst="rect">
            <a:avLst/>
          </a:prstGeom>
          <a:solidFill>
            <a:srgbClr val="E8E6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24B693-E261-83CC-5EEC-F85443102F08}"/>
              </a:ext>
            </a:extLst>
          </p:cNvPr>
          <p:cNvSpPr/>
          <p:nvPr/>
        </p:nvSpPr>
        <p:spPr>
          <a:xfrm>
            <a:off x="660400" y="1854200"/>
            <a:ext cx="10871200" cy="4445000"/>
          </a:xfrm>
          <a:prstGeom prst="roundRect">
            <a:avLst/>
          </a:prstGeom>
          <a:solidFill>
            <a:srgbClr val="FFFFFF"/>
          </a:solidFill>
          <a:ln>
            <a:solidFill>
              <a:srgbClr val="E8E6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FAB889-6C0C-3326-4453-65A35F61045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4483" y="2006600"/>
            <a:ext cx="2943034" cy="4140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17B1072-E173-B9CE-BAC4-112AC64BD427}"/>
              </a:ext>
            </a:extLst>
          </p:cNvPr>
          <p:cNvSpPr txBox="1"/>
          <p:nvPr/>
        </p:nvSpPr>
        <p:spPr>
          <a:xfrm>
            <a:off x="660400" y="6527800"/>
            <a:ext cx="3302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800" b="1">
                <a:solidFill>
                  <a:srgbClr val="686481"/>
                </a:solidFill>
                <a:latin typeface="Aptos" panose="020B0004020202020204" pitchFamily="34" charset="0"/>
              </a:rPr>
              <a:t>FABRIC CAPACITY COPILOT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379359-F237-CAFD-5949-271E101A9F3A}"/>
              </a:ext>
            </a:extLst>
          </p:cNvPr>
          <p:cNvSpPr txBox="1"/>
          <p:nvPr/>
        </p:nvSpPr>
        <p:spPr>
          <a:xfrm>
            <a:off x="7112000" y="6527800"/>
            <a:ext cx="441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sz="800">
                <a:solidFill>
                  <a:srgbClr val="686481"/>
                </a:solidFill>
                <a:latin typeface="Aptos" panose="020B0004020202020204" pitchFamily="34" charset="0"/>
              </a:rPr>
              <a:t>OVERVIEW  •  REFERENCE ACCELERATOR  •  SAMPLE DATA</a:t>
            </a:r>
          </a:p>
        </p:txBody>
      </p:sp>
    </p:spTree>
    <p:extLst>
      <p:ext uri="{BB962C8B-B14F-4D97-AF65-F5344CB8AC3E}">
        <p14:creationId xmlns:p14="http://schemas.microsoft.com/office/powerpoint/2010/main" val="3685596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E443E7-13E2-15AE-B256-69B2B3A58ADC}"/>
              </a:ext>
            </a:extLst>
          </p:cNvPr>
          <p:cNvSpPr txBox="1"/>
          <p:nvPr/>
        </p:nvSpPr>
        <p:spPr>
          <a:xfrm>
            <a:off x="660400" y="381000"/>
            <a:ext cx="8890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5B4BD6"/>
                </a:solidFill>
                <a:latin typeface="Aptos" panose="020B0004020202020204" pitchFamily="34" charset="0"/>
              </a:rPr>
              <a:t>02  •  GROUNDED INVESTIGATION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B4C2D-FFAB-D447-FDCC-6A557273490A}"/>
              </a:ext>
            </a:extLst>
          </p:cNvPr>
          <p:cNvSpPr txBox="1"/>
          <p:nvPr/>
        </p:nvSpPr>
        <p:spPr>
          <a:xfrm>
            <a:off x="660400" y="6731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600" b="1">
                <a:solidFill>
                  <a:srgbClr val="201D45"/>
                </a:solidFill>
                <a:latin typeface="Aptos" panose="020B0004020202020204" pitchFamily="34" charset="0"/>
              </a:rPr>
              <a:t>Move from hotspot to evidence-backed guidance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C6F9-3E21-3E2E-0C49-8A5F0C1DD323}"/>
              </a:ext>
            </a:extLst>
          </p:cNvPr>
          <p:cNvSpPr txBox="1"/>
          <p:nvPr/>
        </p:nvSpPr>
        <p:spPr>
          <a:xfrm>
            <a:off x="660400" y="1257300"/>
            <a:ext cx="1041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200">
                <a:solidFill>
                  <a:srgbClr val="686481"/>
                </a:solidFill>
                <a:latin typeface="Aptos" panose="020B0004020202020204" pitchFamily="34" charset="0"/>
              </a:rPr>
              <a:t>Selected telemetry is translated into deterministic investigation steps—without free-form guessing.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858D93-C285-2F5A-E1FF-035BC2FDECF1}"/>
              </a:ext>
            </a:extLst>
          </p:cNvPr>
          <p:cNvSpPr/>
          <p:nvPr/>
        </p:nvSpPr>
        <p:spPr>
          <a:xfrm>
            <a:off x="660400" y="1600200"/>
            <a:ext cx="10871200" cy="25400"/>
          </a:xfrm>
          <a:prstGeom prst="rect">
            <a:avLst/>
          </a:prstGeom>
          <a:solidFill>
            <a:srgbClr val="E8E6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1CA5186-4CE5-0FCA-68CC-2CC930A5464F}"/>
              </a:ext>
            </a:extLst>
          </p:cNvPr>
          <p:cNvSpPr/>
          <p:nvPr/>
        </p:nvSpPr>
        <p:spPr>
          <a:xfrm>
            <a:off x="660400" y="1854200"/>
            <a:ext cx="10871200" cy="4445000"/>
          </a:xfrm>
          <a:prstGeom prst="roundRect">
            <a:avLst/>
          </a:prstGeom>
          <a:solidFill>
            <a:srgbClr val="FFFFFF"/>
          </a:solidFill>
          <a:ln>
            <a:solidFill>
              <a:srgbClr val="E8E6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CE9E9A-F982-8825-7F81-CACBDCAD2D0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4566" y="2006600"/>
            <a:ext cx="4902869" cy="4140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32F9CA-DFCC-B143-99C1-062C0656C174}"/>
              </a:ext>
            </a:extLst>
          </p:cNvPr>
          <p:cNvSpPr txBox="1"/>
          <p:nvPr/>
        </p:nvSpPr>
        <p:spPr>
          <a:xfrm>
            <a:off x="660400" y="6527800"/>
            <a:ext cx="3302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800" b="1">
                <a:solidFill>
                  <a:srgbClr val="686481"/>
                </a:solidFill>
                <a:latin typeface="Aptos" panose="020B0004020202020204" pitchFamily="34" charset="0"/>
              </a:rPr>
              <a:t>FABRIC CAPACITY COPILOT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7BEF95-59E5-1FD5-C7BA-6AC8AF417C54}"/>
              </a:ext>
            </a:extLst>
          </p:cNvPr>
          <p:cNvSpPr txBox="1"/>
          <p:nvPr/>
        </p:nvSpPr>
        <p:spPr>
          <a:xfrm>
            <a:off x="7112000" y="6527800"/>
            <a:ext cx="441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sz="800">
                <a:solidFill>
                  <a:srgbClr val="686481"/>
                </a:solidFill>
                <a:latin typeface="Aptos" panose="020B0004020202020204" pitchFamily="34" charset="0"/>
              </a:rPr>
              <a:t>INVESTIGATION  •  REFERENCE ACCELERATOR  •  SAMPLE DATA</a:t>
            </a:r>
          </a:p>
        </p:txBody>
      </p:sp>
    </p:spTree>
    <p:extLst>
      <p:ext uri="{BB962C8B-B14F-4D97-AF65-F5344CB8AC3E}">
        <p14:creationId xmlns:p14="http://schemas.microsoft.com/office/powerpoint/2010/main" val="3303974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8A2C0D-409F-3A64-B8CC-496932CDBBFB}"/>
              </a:ext>
            </a:extLst>
          </p:cNvPr>
          <p:cNvSpPr txBox="1"/>
          <p:nvPr/>
        </p:nvSpPr>
        <p:spPr>
          <a:xfrm>
            <a:off x="660400" y="381000"/>
            <a:ext cx="8890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5B4BD6"/>
                </a:solidFill>
                <a:latin typeface="Aptos" panose="020B0004020202020204" pitchFamily="34" charset="0"/>
              </a:rPr>
              <a:t>03  •  OPERATIONAL FOLLOW-THROUGH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39E034-BDEB-0310-C9A0-6F801A31ACF9}"/>
              </a:ext>
            </a:extLst>
          </p:cNvPr>
          <p:cNvSpPr txBox="1"/>
          <p:nvPr/>
        </p:nvSpPr>
        <p:spPr>
          <a:xfrm>
            <a:off x="660400" y="673100"/>
            <a:ext cx="104140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600" b="1">
                <a:solidFill>
                  <a:srgbClr val="201D45"/>
                </a:solidFill>
                <a:latin typeface="Aptos" panose="020B0004020202020204" pitchFamily="34" charset="0"/>
              </a:rPr>
              <a:t>Turn recommendations into accountable 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4D89DF-FF46-9A26-7582-FB1BE453208D}"/>
              </a:ext>
            </a:extLst>
          </p:cNvPr>
          <p:cNvSpPr txBox="1"/>
          <p:nvPr/>
        </p:nvSpPr>
        <p:spPr>
          <a:xfrm>
            <a:off x="660400" y="1257300"/>
            <a:ext cx="104140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200">
                <a:solidFill>
                  <a:srgbClr val="686481"/>
                </a:solidFill>
                <a:latin typeface="Aptos" panose="020B0004020202020204" pitchFamily="34" charset="0"/>
              </a:rPr>
              <a:t>Assign ownership, track status, and preserve the path from capacity signal to remediation.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FECBF1-0974-37BC-FEAE-95543F3775C2}"/>
              </a:ext>
            </a:extLst>
          </p:cNvPr>
          <p:cNvSpPr/>
          <p:nvPr/>
        </p:nvSpPr>
        <p:spPr>
          <a:xfrm>
            <a:off x="660400" y="1600200"/>
            <a:ext cx="10871200" cy="25400"/>
          </a:xfrm>
          <a:prstGeom prst="rect">
            <a:avLst/>
          </a:prstGeom>
          <a:solidFill>
            <a:srgbClr val="E8E6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8F89C63-C428-2440-E333-C38FFCF7EEC0}"/>
              </a:ext>
            </a:extLst>
          </p:cNvPr>
          <p:cNvSpPr/>
          <p:nvPr/>
        </p:nvSpPr>
        <p:spPr>
          <a:xfrm>
            <a:off x="660400" y="1854200"/>
            <a:ext cx="10871200" cy="4445000"/>
          </a:xfrm>
          <a:prstGeom prst="roundRect">
            <a:avLst/>
          </a:prstGeom>
          <a:solidFill>
            <a:srgbClr val="FFFFFF"/>
          </a:solidFill>
          <a:ln>
            <a:solidFill>
              <a:srgbClr val="E8E6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E803FC-745A-454B-3CBD-0454F47E116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4566" y="2006600"/>
            <a:ext cx="4902869" cy="4140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6C4AB91-6982-EC7B-14C5-6155D343D399}"/>
              </a:ext>
            </a:extLst>
          </p:cNvPr>
          <p:cNvSpPr txBox="1"/>
          <p:nvPr/>
        </p:nvSpPr>
        <p:spPr>
          <a:xfrm>
            <a:off x="660400" y="6527800"/>
            <a:ext cx="3302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800" b="1">
                <a:solidFill>
                  <a:srgbClr val="686481"/>
                </a:solidFill>
                <a:latin typeface="Aptos" panose="020B0004020202020204" pitchFamily="34" charset="0"/>
              </a:rPr>
              <a:t>FABRIC CAPACITY COPILOT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C8A1FE-1CDB-1153-B1F6-936E76C2E588}"/>
              </a:ext>
            </a:extLst>
          </p:cNvPr>
          <p:cNvSpPr txBox="1"/>
          <p:nvPr/>
        </p:nvSpPr>
        <p:spPr>
          <a:xfrm>
            <a:off x="7112000" y="6527800"/>
            <a:ext cx="441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sz="800">
                <a:solidFill>
                  <a:srgbClr val="686481"/>
                </a:solidFill>
                <a:latin typeface="Aptos" panose="020B0004020202020204" pitchFamily="34" charset="0"/>
              </a:rPr>
              <a:t>ACTIONS  •  REFERENCE ACCELERATOR  •  SAMPLE DATA</a:t>
            </a:r>
          </a:p>
        </p:txBody>
      </p:sp>
    </p:spTree>
    <p:extLst>
      <p:ext uri="{BB962C8B-B14F-4D97-AF65-F5344CB8AC3E}">
        <p14:creationId xmlns:p14="http://schemas.microsoft.com/office/powerpoint/2010/main" val="863903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</Words>
  <Application>Microsoft Office PowerPoint</Application>
  <PresentationFormat>Custom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Haroon Rashid</dc:creator>
  <cp:lastModifiedBy>Haroon Rashid</cp:lastModifiedBy>
  <cp:revision>1</cp:revision>
  <dcterms:created xsi:type="dcterms:W3CDTF">2026-09-20T16:07:24Z</dcterms:created>
  <dcterms:modified xsi:type="dcterms:W3CDTF">2026-09-20T16:07:24Z</dcterms:modified>
</cp:coreProperties>
</file>