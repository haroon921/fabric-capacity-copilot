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" d="100"/>
          <a:sy n="14" d="100"/>
        </p:scale>
        <p:origin x="6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9608-C9BF-7A0E-0D1E-91494C3DD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B2B54-08CB-87BE-3464-5C78446D0D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4834F-A6E9-0A94-2040-7DD158FF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CF3A0-270C-D10C-1620-724BBEF76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68EB9-3AC6-99E0-A9DB-68EB0755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572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ADFC3-048A-20D5-9ED5-B158DF4A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83BEA-0AA0-1B02-8027-281CCB23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E9597-6FD4-00A7-2ACE-A734087D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34E67-1D00-E523-8806-EF49ACF59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5F66E-D132-F0F4-E120-DB095D215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063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BA1A8-A7AA-0A31-2F49-2774C81F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D624A8-4B9D-52B8-0667-8326653DA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31B36-6798-2E81-47F4-0A602D834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13093-ABD3-D94F-9FA5-4F8952416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8748E-2D85-EC6A-0526-F14EA582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267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75147-B3DC-43E4-F015-91C252E6E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1DF8C-F369-ABD2-4810-0DEEF444A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B7000F-B796-2199-8FCA-8D0FC3C62D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1BAD2A-75B0-0237-9E80-618643EB0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F2C0B3-DCE1-3B9A-BD15-B5C52B09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1CB0C6-9577-291E-2906-172025F15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55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D7C01-E83A-0DF9-EB44-D85618083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20591-9BA2-46B2-2052-8B95BB8253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B80D05-1ECA-09B3-4C52-47932EC90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94F3E5-D819-A33D-9268-A2AA04AF45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881185-46B6-91DF-D2BC-DDA53F20AC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E8EDC0-7782-DB1C-9346-D3DE8F4A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E23666-3A53-D2D0-5A80-2D1CA481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0599-B6E0-1898-1411-A0A94BD53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608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BAC87-23D9-2A72-83FB-3F2746812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37C56C-57CE-C074-2CEC-64FB80D88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24FF3-AE8A-965B-D741-466F51156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C88BDF-34B2-FBD6-31A1-D55848CD9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47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66FB6E-9E4A-35F2-964D-EB6A7C4FA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AD456D-E32C-D76F-5C7D-E22673E7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C3742-93B3-E823-23DC-ED7AD7FB7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7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E818-C964-02A6-8BAF-137F02F61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53BA2-049D-567B-A57C-DC04A0E07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58A85-3433-095B-A8DF-E1AC65955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626658-3318-FE10-8D1A-AF14D968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C67B67-192E-0972-464C-D6B69EE7B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1C0B3-2A0D-670F-5115-31A456B79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8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BF129-5DE6-29E2-D196-FF9D288A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F01FD9-AC15-793D-63AB-BD5BA67C066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B8FF1-15AA-8EF6-803D-190E25DF24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AD02A-FE62-3DD5-4B7A-5FDA3999A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4C4CA4-BDCE-E52B-500B-A6BE0320D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E7CA98-E9CA-95D0-5849-D6D7948A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07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33A2D-663D-91FB-79D9-68599FA7E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A9454C-365C-617D-07EE-BE14FCBE81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D834D-0AFC-8427-8C70-0202F9483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D82E2-D987-62E6-B7C1-F3DAF3CBD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04093-D46D-F4A0-D31C-1B92C85D0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42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5B2D6E-7833-ECF2-C6AD-A4513A8A7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024E64-3D9B-CBF1-489A-56390226C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B2880-B432-52BA-217B-6971857E6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895CE-C742-0A1C-D16E-6211B02F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1A24E-456A-29E2-8742-72EFD1ED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626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0BE623-D211-B3FC-7CD0-839AABC76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29AD6-C06F-2CA0-FF29-C530FE1A0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7A944-9C0D-F18F-F2BE-3C0291CA03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853AE-2B35-4E40-B8A3-67DBCD9E45C2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AA115-DB4D-A522-87CC-226B32168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05C29-B6A3-4F33-9686-CA420F1C2E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A613CB-FFFC-4DC9-A6CC-F615930E0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7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CA4D8F-9828-644B-D4B0-8047E5C7B66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1D4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2FAFA-B5FE-95C5-E15F-D8F837CB231F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B4B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1A7C5-DB7E-38AA-4938-D8B0AE0BD8FE}"/>
              </a:ext>
            </a:extLst>
          </p:cNvPr>
          <p:cNvSpPr txBox="1"/>
          <p:nvPr/>
        </p:nvSpPr>
        <p:spPr>
          <a:xfrm>
            <a:off x="736600" y="685800"/>
            <a:ext cx="381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9B8CFF"/>
                </a:solidFill>
                <a:latin typeface="Aptos" panose="020B0004020202020204" pitchFamily="34" charset="0"/>
              </a:rPr>
              <a:t>REFERENCE ACCELERATOR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E5585-5798-80CB-3533-ACA50AF8933E}"/>
              </a:ext>
            </a:extLst>
          </p:cNvPr>
          <p:cNvSpPr txBox="1"/>
          <p:nvPr/>
        </p:nvSpPr>
        <p:spPr>
          <a:xfrm>
            <a:off x="736600" y="1308100"/>
            <a:ext cx="4889500" cy="107721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3500" b="1">
                <a:solidFill>
                  <a:srgbClr val="FFFFFF"/>
                </a:solidFill>
                <a:latin typeface="Aptos" panose="020B0004020202020204" pitchFamily="34" charset="0"/>
              </a:rPr>
              <a:t>Fabric Capacity
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C9C138-9B08-C162-58A9-36D19CC0E8D0}"/>
              </a:ext>
            </a:extLst>
          </p:cNvPr>
          <p:cNvSpPr txBox="1"/>
          <p:nvPr/>
        </p:nvSpPr>
        <p:spPr>
          <a:xfrm>
            <a:off x="736600" y="2997200"/>
            <a:ext cx="4445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700">
                <a:solidFill>
                  <a:srgbClr val="D8D5ED"/>
                </a:solidFill>
                <a:latin typeface="Aptos" panose="020B0004020202020204" pitchFamily="34" charset="0"/>
              </a:rPr>
              <a:t>Turn capacity telemetry into a focused investigation and remediation workflow.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DCBDFF-C929-E1D9-7B8A-40956AEDD961}"/>
              </a:ext>
            </a:extLst>
          </p:cNvPr>
          <p:cNvSpPr/>
          <p:nvPr/>
        </p:nvSpPr>
        <p:spPr>
          <a:xfrm>
            <a:off x="736600" y="4381500"/>
            <a:ext cx="3302000" cy="457200"/>
          </a:xfrm>
          <a:prstGeom prst="roundRect">
            <a:avLst/>
          </a:prstGeom>
          <a:solidFill>
            <a:srgbClr val="4F43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0045E-8A0A-C906-C5A1-5538DE4C9910}"/>
              </a:ext>
            </a:extLst>
          </p:cNvPr>
          <p:cNvSpPr txBox="1"/>
          <p:nvPr/>
        </p:nvSpPr>
        <p:spPr>
          <a:xfrm>
            <a:off x="977900" y="4521200"/>
            <a:ext cx="28194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Overview  →  Evidence  →  Action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80C2BF-3711-314B-064B-D63C623CF8B2}"/>
              </a:ext>
            </a:extLst>
          </p:cNvPr>
          <p:cNvSpPr txBox="1"/>
          <p:nvPr/>
        </p:nvSpPr>
        <p:spPr>
          <a:xfrm>
            <a:off x="736600" y="5994400"/>
            <a:ext cx="482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>
                <a:solidFill>
                  <a:srgbClr val="A7A2CC"/>
                </a:solidFill>
                <a:latin typeface="Aptos" panose="020B0004020202020204" pitchFamily="34" charset="0"/>
              </a:rPr>
              <a:t>Working local MVP • React + TypeScript • Sample telemetry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E8B1A37-214C-8DC0-E3FA-672125A82256}"/>
              </a:ext>
            </a:extLst>
          </p:cNvPr>
          <p:cNvSpPr/>
          <p:nvPr/>
        </p:nvSpPr>
        <p:spPr>
          <a:xfrm>
            <a:off x="5740400" y="711200"/>
            <a:ext cx="5765800" cy="543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11790A-DE01-1B2A-CE61-CB02FDE6E22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8200" y="1147943"/>
            <a:ext cx="5410200" cy="45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13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499B08-D036-AE1B-CBB1-D162A26B029A}"/>
              </a:ext>
            </a:extLst>
          </p:cNvPr>
          <p:cNvSpPr txBox="1"/>
          <p:nvPr/>
        </p:nvSpPr>
        <p:spPr>
          <a:xfrm>
            <a:off x="660400" y="381000"/>
            <a:ext cx="889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5B4BD6"/>
                </a:solidFill>
                <a:latin typeface="Aptos" panose="020B0004020202020204" pitchFamily="34" charset="0"/>
              </a:rPr>
              <a:t>01  •  CAPACITY POSTURE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670A8-C260-A8F4-B800-4D060C6CD518}"/>
              </a:ext>
            </a:extLst>
          </p:cNvPr>
          <p:cNvSpPr txBox="1"/>
          <p:nvPr/>
        </p:nvSpPr>
        <p:spPr>
          <a:xfrm>
            <a:off x="660400" y="6731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201D45"/>
                </a:solidFill>
                <a:latin typeface="Aptos" panose="020B0004020202020204" pitchFamily="34" charset="0"/>
              </a:rPr>
              <a:t>See the signal before it becomes an incident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8CFC69-71C8-7AF9-4DCD-593716C100CA}"/>
              </a:ext>
            </a:extLst>
          </p:cNvPr>
          <p:cNvSpPr txBox="1"/>
          <p:nvPr/>
        </p:nvSpPr>
        <p:spPr>
          <a:xfrm>
            <a:off x="660400" y="1257300"/>
            <a:ext cx="1041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200">
                <a:solidFill>
                  <a:srgbClr val="686481"/>
                </a:solidFill>
                <a:latin typeface="Aptos" panose="020B0004020202020204" pitchFamily="34" charset="0"/>
              </a:rPr>
              <a:t>Executive health indicators, utilization trends, workload mix, and ranked hotspots in one view.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C3027-C6E4-7AAC-AB7D-609F21BEBB8E}"/>
              </a:ext>
            </a:extLst>
          </p:cNvPr>
          <p:cNvSpPr/>
          <p:nvPr/>
        </p:nvSpPr>
        <p:spPr>
          <a:xfrm>
            <a:off x="660400" y="1600200"/>
            <a:ext cx="10871200" cy="25400"/>
          </a:xfrm>
          <a:prstGeom prst="rect">
            <a:avLst/>
          </a:prstGeom>
          <a:solidFill>
            <a:srgbClr val="E8E6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F8B582-68E0-1E4E-F797-AC34C7D0B809}"/>
              </a:ext>
            </a:extLst>
          </p:cNvPr>
          <p:cNvSpPr/>
          <p:nvPr/>
        </p:nvSpPr>
        <p:spPr>
          <a:xfrm>
            <a:off x="660400" y="1854200"/>
            <a:ext cx="10871200" cy="4445000"/>
          </a:xfrm>
          <a:prstGeom prst="roundRect">
            <a:avLst/>
          </a:prstGeom>
          <a:solidFill>
            <a:srgbClr val="FFFFFF"/>
          </a:solidFill>
          <a:ln>
            <a:solidFill>
              <a:srgbClr val="E8E6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D5234A-9F40-AB2A-BA4C-02EFB1903F5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074" y="2006600"/>
            <a:ext cx="4909853" cy="4140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15C75A-28E0-8453-34F7-D439C60F85CD}"/>
              </a:ext>
            </a:extLst>
          </p:cNvPr>
          <p:cNvSpPr txBox="1"/>
          <p:nvPr/>
        </p:nvSpPr>
        <p:spPr>
          <a:xfrm>
            <a:off x="660400" y="6527800"/>
            <a:ext cx="3302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686481"/>
                </a:solidFill>
                <a:latin typeface="Aptos" panose="020B0004020202020204" pitchFamily="34" charset="0"/>
              </a:rPr>
              <a:t>FABRIC CAPACITY COPILOT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38AC46-01DF-6510-C513-81F25959BDE6}"/>
              </a:ext>
            </a:extLst>
          </p:cNvPr>
          <p:cNvSpPr txBox="1"/>
          <p:nvPr/>
        </p:nvSpPr>
        <p:spPr>
          <a:xfrm>
            <a:off x="7112000" y="6527800"/>
            <a:ext cx="441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800">
                <a:solidFill>
                  <a:srgbClr val="686481"/>
                </a:solidFill>
                <a:latin typeface="Aptos" panose="020B0004020202020204" pitchFamily="34" charset="0"/>
              </a:rPr>
              <a:t>OVERVIEW  •  REFERENCE ACCELERATOR  •  SAMPLE DATA</a:t>
            </a:r>
          </a:p>
        </p:txBody>
      </p:sp>
    </p:spTree>
    <p:extLst>
      <p:ext uri="{BB962C8B-B14F-4D97-AF65-F5344CB8AC3E}">
        <p14:creationId xmlns:p14="http://schemas.microsoft.com/office/powerpoint/2010/main" val="3169465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83C2B6-5D9E-7FE2-923F-94CE84CC99A9}"/>
              </a:ext>
            </a:extLst>
          </p:cNvPr>
          <p:cNvSpPr txBox="1"/>
          <p:nvPr/>
        </p:nvSpPr>
        <p:spPr>
          <a:xfrm>
            <a:off x="660400" y="381000"/>
            <a:ext cx="889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5B4BD6"/>
                </a:solidFill>
                <a:latin typeface="Aptos" panose="020B0004020202020204" pitchFamily="34" charset="0"/>
              </a:rPr>
              <a:t>02  •  GROUNDED INVESTIGATION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64286-EA52-28EE-7C8F-992D7E077886}"/>
              </a:ext>
            </a:extLst>
          </p:cNvPr>
          <p:cNvSpPr txBox="1"/>
          <p:nvPr/>
        </p:nvSpPr>
        <p:spPr>
          <a:xfrm>
            <a:off x="660400" y="6731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201D45"/>
                </a:solidFill>
                <a:latin typeface="Aptos" panose="020B0004020202020204" pitchFamily="34" charset="0"/>
              </a:rPr>
              <a:t>Move from hotspot to evidence-backed guidance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A7763A-F0FE-A394-667F-23E01531F4FA}"/>
              </a:ext>
            </a:extLst>
          </p:cNvPr>
          <p:cNvSpPr txBox="1"/>
          <p:nvPr/>
        </p:nvSpPr>
        <p:spPr>
          <a:xfrm>
            <a:off x="660400" y="1257300"/>
            <a:ext cx="1041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200">
                <a:solidFill>
                  <a:srgbClr val="686481"/>
                </a:solidFill>
                <a:latin typeface="Aptos" panose="020B0004020202020204" pitchFamily="34" charset="0"/>
              </a:rPr>
              <a:t>Selected telemetry is translated into deterministic investigation steps—without free-form guessing.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CE71E0-EF38-C0CD-6610-7D2E0F708DBC}"/>
              </a:ext>
            </a:extLst>
          </p:cNvPr>
          <p:cNvSpPr/>
          <p:nvPr/>
        </p:nvSpPr>
        <p:spPr>
          <a:xfrm>
            <a:off x="660400" y="1600200"/>
            <a:ext cx="10871200" cy="25400"/>
          </a:xfrm>
          <a:prstGeom prst="rect">
            <a:avLst/>
          </a:prstGeom>
          <a:solidFill>
            <a:srgbClr val="E8E6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376F2A-C382-7BA5-C194-F3A6B8BDEAA7}"/>
              </a:ext>
            </a:extLst>
          </p:cNvPr>
          <p:cNvSpPr/>
          <p:nvPr/>
        </p:nvSpPr>
        <p:spPr>
          <a:xfrm>
            <a:off x="660400" y="1854200"/>
            <a:ext cx="10871200" cy="4445000"/>
          </a:xfrm>
          <a:prstGeom prst="roundRect">
            <a:avLst/>
          </a:prstGeom>
          <a:solidFill>
            <a:srgbClr val="FFFFFF"/>
          </a:solidFill>
          <a:ln>
            <a:solidFill>
              <a:srgbClr val="E8E6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53B408-847D-832B-65B7-E15B2F52FC5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074" y="2006600"/>
            <a:ext cx="4909853" cy="4140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87BF2BD-6D31-B752-D732-887D516FAB29}"/>
              </a:ext>
            </a:extLst>
          </p:cNvPr>
          <p:cNvSpPr txBox="1"/>
          <p:nvPr/>
        </p:nvSpPr>
        <p:spPr>
          <a:xfrm>
            <a:off x="660400" y="6527800"/>
            <a:ext cx="3302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686481"/>
                </a:solidFill>
                <a:latin typeface="Aptos" panose="020B0004020202020204" pitchFamily="34" charset="0"/>
              </a:rPr>
              <a:t>FABRIC CAPACITY COPILOT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018F33-6E0A-CB8D-391B-9695B54A3C86}"/>
              </a:ext>
            </a:extLst>
          </p:cNvPr>
          <p:cNvSpPr txBox="1"/>
          <p:nvPr/>
        </p:nvSpPr>
        <p:spPr>
          <a:xfrm>
            <a:off x="7112000" y="6527800"/>
            <a:ext cx="441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800">
                <a:solidFill>
                  <a:srgbClr val="686481"/>
                </a:solidFill>
                <a:latin typeface="Aptos" panose="020B0004020202020204" pitchFamily="34" charset="0"/>
              </a:rPr>
              <a:t>INVESTIGATION  •  REFERENCE ACCELERATOR  •  SAMPLE DATA</a:t>
            </a:r>
          </a:p>
        </p:txBody>
      </p:sp>
    </p:spTree>
    <p:extLst>
      <p:ext uri="{BB962C8B-B14F-4D97-AF65-F5344CB8AC3E}">
        <p14:creationId xmlns:p14="http://schemas.microsoft.com/office/powerpoint/2010/main" val="2690117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D075C5-F5D8-EEF7-756A-784E091FB974}"/>
              </a:ext>
            </a:extLst>
          </p:cNvPr>
          <p:cNvSpPr txBox="1"/>
          <p:nvPr/>
        </p:nvSpPr>
        <p:spPr>
          <a:xfrm>
            <a:off x="660400" y="381000"/>
            <a:ext cx="889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5B4BD6"/>
                </a:solidFill>
                <a:latin typeface="Aptos" panose="020B0004020202020204" pitchFamily="34" charset="0"/>
              </a:rPr>
              <a:t>03  •  OPERATIONAL FOLLOW-THROUGH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4BEB8-8CC6-0A96-7D02-7BC272C6EA23}"/>
              </a:ext>
            </a:extLst>
          </p:cNvPr>
          <p:cNvSpPr txBox="1"/>
          <p:nvPr/>
        </p:nvSpPr>
        <p:spPr>
          <a:xfrm>
            <a:off x="660400" y="6731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201D45"/>
                </a:solidFill>
                <a:latin typeface="Aptos" panose="020B0004020202020204" pitchFamily="34" charset="0"/>
              </a:rPr>
              <a:t>Turn recommendations into accountable 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6915E1-5CC3-8257-F844-B0819EDB8216}"/>
              </a:ext>
            </a:extLst>
          </p:cNvPr>
          <p:cNvSpPr txBox="1"/>
          <p:nvPr/>
        </p:nvSpPr>
        <p:spPr>
          <a:xfrm>
            <a:off x="660400" y="1257300"/>
            <a:ext cx="1041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200">
                <a:solidFill>
                  <a:srgbClr val="686481"/>
                </a:solidFill>
                <a:latin typeface="Aptos" panose="020B0004020202020204" pitchFamily="34" charset="0"/>
              </a:rPr>
              <a:t>Assign ownership, track status, and preserve the path from capacity signal to remediation.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189BED-EFC0-C22E-6982-71C3E142460C}"/>
              </a:ext>
            </a:extLst>
          </p:cNvPr>
          <p:cNvSpPr/>
          <p:nvPr/>
        </p:nvSpPr>
        <p:spPr>
          <a:xfrm>
            <a:off x="660400" y="1600200"/>
            <a:ext cx="10871200" cy="25400"/>
          </a:xfrm>
          <a:prstGeom prst="rect">
            <a:avLst/>
          </a:prstGeom>
          <a:solidFill>
            <a:srgbClr val="E8E6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B851444-483E-FA89-C6C3-83F2941C120F}"/>
              </a:ext>
            </a:extLst>
          </p:cNvPr>
          <p:cNvSpPr/>
          <p:nvPr/>
        </p:nvSpPr>
        <p:spPr>
          <a:xfrm>
            <a:off x="660400" y="1854200"/>
            <a:ext cx="10871200" cy="4445000"/>
          </a:xfrm>
          <a:prstGeom prst="roundRect">
            <a:avLst/>
          </a:prstGeom>
          <a:solidFill>
            <a:srgbClr val="FFFFFF"/>
          </a:solidFill>
          <a:ln>
            <a:solidFill>
              <a:srgbClr val="E8E6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68FC9F-DAE2-91A4-E2E3-EF4E6DB0393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074" y="2006600"/>
            <a:ext cx="4909853" cy="4140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2B2190-8AB0-7351-CF81-4849321EB483}"/>
              </a:ext>
            </a:extLst>
          </p:cNvPr>
          <p:cNvSpPr txBox="1"/>
          <p:nvPr/>
        </p:nvSpPr>
        <p:spPr>
          <a:xfrm>
            <a:off x="660400" y="6527800"/>
            <a:ext cx="3302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686481"/>
                </a:solidFill>
                <a:latin typeface="Aptos" panose="020B0004020202020204" pitchFamily="34" charset="0"/>
              </a:rPr>
              <a:t>FABRIC CAPACITY COPILOT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9E02B-754A-2348-9DD4-50018832B3AE}"/>
              </a:ext>
            </a:extLst>
          </p:cNvPr>
          <p:cNvSpPr txBox="1"/>
          <p:nvPr/>
        </p:nvSpPr>
        <p:spPr>
          <a:xfrm>
            <a:off x="7112000" y="6527800"/>
            <a:ext cx="441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800">
                <a:solidFill>
                  <a:srgbClr val="686481"/>
                </a:solidFill>
                <a:latin typeface="Aptos" panose="020B0004020202020204" pitchFamily="34" charset="0"/>
              </a:rPr>
              <a:t>ACTIONS  •  REFERENCE ACCELERATOR  •  SAMPLE DATA</a:t>
            </a:r>
          </a:p>
        </p:txBody>
      </p:sp>
    </p:spTree>
    <p:extLst>
      <p:ext uri="{BB962C8B-B14F-4D97-AF65-F5344CB8AC3E}">
        <p14:creationId xmlns:p14="http://schemas.microsoft.com/office/powerpoint/2010/main" val="2775520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</Words>
  <Application>Microsoft Office PowerPoint</Application>
  <PresentationFormat>Custom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Haroon Rashid</dc:creator>
  <cp:lastModifiedBy>Haroon Rashid</cp:lastModifiedBy>
  <cp:revision>1</cp:revision>
  <dcterms:created xsi:type="dcterms:W3CDTF">2026-09-20T14:40:33Z</dcterms:created>
  <dcterms:modified xsi:type="dcterms:W3CDTF">2026-09-20T14:40:33Z</dcterms:modified>
</cp:coreProperties>
</file>